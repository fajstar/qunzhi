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SYNTHMIND  ·  群智 QUNZHI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95527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7171C"/>
                </a:solidFill>
                <a:latin typeface="华文行楷"/>
                <a:ea typeface="华文行楷"/>
              </a:rPr>
              <a:t>不识庐山真面目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57984"/>
            <a:ext cx="795527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7171C"/>
                </a:solidFill>
                <a:latin typeface="华文行楷"/>
                <a:ea typeface="华文行楷"/>
              </a:rPr>
              <a:t>只缘身在此山中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145536"/>
            <a:ext cx="2834640" cy="12801"/>
          </a:xfrm>
          <a:prstGeom prst="rect">
            <a:avLst/>
          </a:prstGeom>
          <a:solidFill>
            <a:srgbClr val="1717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46704"/>
            <a:ext cx="7132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A42"/>
                </a:solidFill>
                <a:latin typeface="Noto Sans SC"/>
                <a:ea typeface="Noto Sans SC"/>
              </a:rPr>
              <a:t>不是人问 AI 答，而是 AI 团队替你预演决策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953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E6858"/>
                </a:solidFill>
                <a:latin typeface="Noto Sans SC"/>
                <a:ea typeface="Noto Sans SC"/>
              </a:rPr>
              <a:t>6 个不同专业 / 认知原型的 AI 角色 · 在信息不对称下多轮研讨 · 产出决策预演报告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992624"/>
            <a:ext cx="6583680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3A42"/>
                </a:solidFill>
                <a:latin typeface="Noto Sans SC"/>
                <a:ea typeface="Noto Sans SC"/>
              </a:rPr>
              <a:t>群智 · 科研决策预演智能体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04688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6858"/>
                </a:solidFill>
                <a:latin typeface="Noto Sans SC"/>
                <a:ea typeface="Noto Sans SC"/>
              </a:rPr>
              <a:t>首届「中国移动杯」人工智能创新大赛 ｜ 智能体开发赛道 ｜ 决赛答辩</a:t>
            </a:r>
          </a:p>
        </p:txBody>
      </p:sp>
      <p:sp>
        <p:nvSpPr>
          <p:cNvPr id="12" name="Oval 11"/>
          <p:cNvSpPr/>
          <p:nvPr/>
        </p:nvSpPr>
        <p:spPr>
          <a:xfrm>
            <a:off x="7360920" y="1554480"/>
            <a:ext cx="4572000" cy="4572000"/>
          </a:xfrm>
          <a:prstGeom prst="ellipse">
            <a:avLst/>
          </a:prstGeom>
          <a:noFill/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95260" y="1988820"/>
            <a:ext cx="3703320" cy="3703320"/>
          </a:xfrm>
          <a:prstGeom prst="ellipse">
            <a:avLst/>
          </a:prstGeom>
          <a:noFill/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2423160"/>
            <a:ext cx="2834640" cy="2834640"/>
          </a:xfrm>
          <a:prstGeom prst="ellipse">
            <a:avLst/>
          </a:prstGeom>
          <a:noFill/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33688" y="3127248"/>
            <a:ext cx="1426464" cy="1426464"/>
          </a:xfrm>
          <a:prstGeom prst="ellipse">
            <a:avLst/>
          </a:prstGeom>
          <a:solidFill>
            <a:srgbClr val="EAE2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356616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7171C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836822"/>
            <a:ext cx="4937760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44176" y="1508760"/>
            <a:ext cx="5486" cy="4663440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96628" y="155448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62362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PAGE 01 /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419088"/>
            <a:ext cx="1063721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92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858"/>
                </a:solidFill>
                <a:latin typeface="Noto Sans SC"/>
                <a:ea typeface="Noto Sans SC"/>
              </a:rPr>
              <a:t>COVER</a:t>
            </a:r>
          </a:p>
        </p:txBody>
      </p:sp>
    </p:spTree>
  </p:cSld>
  <p:clrMapOvr>
    <a:masterClrMapping/>
  </p:clrMapOvr>
  <p:transition xmlns:p14="http://schemas.microsoft.com/office/powerpoint/2010/main" spd="slow" p14:dur="15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PROBLEM  ·  为什么要做预演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一个真实的痛点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三家 AI，同一句话，5,210 字、71 条建议 —— 没有一条说「这么做会崩」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17877"/>
            <a:ext cx="3017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000" b="1" i="0">
                <a:solidFill>
                  <a:srgbClr val="17171C"/>
                </a:solidFill>
                <a:latin typeface="Noto Sans SC"/>
                <a:ea typeface="Noto Sans SC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524885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3A42"/>
                </a:solidFill>
                <a:latin typeface="Noto Sans SC"/>
                <a:ea typeface="Noto Sans SC"/>
              </a:rPr>
              <a:t>条建议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8375" y="2317877"/>
            <a:ext cx="3017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000" b="1" i="0">
                <a:solidFill>
                  <a:srgbClr val="B4362E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4951" y="3524885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3A42"/>
                </a:solidFill>
                <a:latin typeface="Noto Sans SC"/>
                <a:ea typeface="Noto Sans SC"/>
              </a:rPr>
              <a:t>条失败预判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1335" y="2921381"/>
            <a:ext cx="4291279" cy="7315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2592197"/>
            <a:ext cx="4291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E6858"/>
                </a:solidFill>
                <a:latin typeface="Noto Sans SC"/>
                <a:ea typeface="Noto Sans SC"/>
              </a:rPr>
              <a:t>五 千 余 字 ， 一 条 也 没 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18661"/>
            <a:ext cx="1027145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4965"/>
            <a:ext cx="10271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A42"/>
                </a:solidFill>
                <a:latin typeface="Noto Sans SC"/>
                <a:ea typeface="Noto Sans SC"/>
              </a:rPr>
              <a:t>71 条都在回答「可以做什么」；没有一条在回答「会死在哪儿」。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5045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7171C"/>
                </a:solidFill>
                <a:latin typeface="Noto Serif SC"/>
                <a:ea typeface="Noto Serif SC"/>
              </a:rPr>
              <a:t>决策的难，从来不是不知道做什么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08549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D4ED8"/>
                </a:solidFill>
                <a:latin typeface="Noto Serif SC"/>
                <a:ea typeface="Noto Serif SC"/>
              </a:rPr>
              <a:t>是不知道哪一条会崩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99632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实测｜同一提示词、temperature=0.7：DeepSeek 1783 / GLM-5.3 1500 / Qwen3.8 1927 字　·　原始回答随材料附。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spd="slow" p14:dur="11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PROCESS  ·  它跑起来是什么样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17171C"/>
                </a:solidFill>
                <a:latin typeface="华文行楷"/>
                <a:ea typeface="华文行楷"/>
              </a:rPr>
              <a:t>旧时王谢堂前燕，飞入寻常百姓家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8259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你不需要会写提示词、不需要编排流程 —— 输入一个课题，剩下的它自己跑完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40864"/>
            <a:ext cx="3310128" cy="2852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42032"/>
            <a:ext cx="2761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6858"/>
                </a:solidFill>
                <a:latin typeface="Noto Sans SC"/>
                <a:ea typeface="Noto Sans SC"/>
              </a:rPr>
              <a:t>输　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44368"/>
            <a:ext cx="280720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1" i="0">
                <a:solidFill>
                  <a:srgbClr val="17171C"/>
                </a:solidFill>
                <a:latin typeface="Noto Serif SC"/>
                <a:ea typeface="Noto Serif SC"/>
              </a:rPr>
              <a:t>「如何提升</a:t>
            </a:r>
          </a:p>
          <a:p>
            <a:pPr algn="l">
              <a:lnSpc>
                <a:spcPct val="134000"/>
              </a:lnSpc>
            </a:pPr>
            <a:r>
              <a:rPr sz="2000" b="1" i="0">
                <a:solidFill>
                  <a:srgbClr val="17171C"/>
                </a:solidFill>
                <a:latin typeface="Noto Serif SC"/>
                <a:ea typeface="Noto Serif SC"/>
              </a:rPr>
              <a:t>师范生课堂</a:t>
            </a:r>
          </a:p>
          <a:p>
            <a:pPr algn="l">
              <a:lnSpc>
                <a:spcPct val="134000"/>
              </a:lnSpc>
            </a:pPr>
            <a:r>
              <a:rPr sz="2000" b="1" i="0">
                <a:solidFill>
                  <a:srgbClr val="17171C"/>
                </a:solidFill>
                <a:latin typeface="Noto Serif SC"/>
                <a:ea typeface="Noto Serif SC"/>
              </a:rPr>
              <a:t>参与度」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6858"/>
                </a:solidFill>
                <a:latin typeface="Noto Sans SC"/>
                <a:ea typeface="Noto Sans SC"/>
              </a:rPr>
              <a:t>一句话即可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6858"/>
                </a:solidFill>
                <a:latin typeface="Noto Sans SC"/>
                <a:ea typeface="Noto Sans SC"/>
              </a:rPr>
              <a:t>不要求写清楚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3529584"/>
            <a:ext cx="402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D4ED8"/>
                </a:solidFill>
                <a:latin typeface="Noto Sans SC"/>
                <a:ea typeface="Noto Sans S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54296" y="2340864"/>
            <a:ext cx="6668719" cy="2852928"/>
          </a:xfrm>
          <a:prstGeom prst="roundRect">
            <a:avLst>
              <a:gd name="adj" fmla="val 5000"/>
            </a:avLst>
          </a:prstGeom>
          <a:solidFill>
            <a:srgbClr val="F3EEE4"/>
          </a:solidFill>
          <a:ln w="12700">
            <a:solidFill>
              <a:srgbClr val="D3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2542032"/>
            <a:ext cx="6120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输　出　·　预演报告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71216"/>
            <a:ext cx="6101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一句话结论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3108960"/>
            <a:ext cx="61017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7171C"/>
                </a:solidFill>
                <a:latin typeface="Noto Serif SC"/>
                <a:ea typeface="Noto Serif SC"/>
              </a:rPr>
              <a:t>先做课前匿名提困惑、课堂接话的小实验。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3547872"/>
            <a:ext cx="6101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E6858"/>
                </a:solidFill>
                <a:latin typeface="Noto Sans SC"/>
                <a:ea typeface="Noto Sans SC"/>
              </a:rPr>
              <a:t>行动建议 ×3　·　认知盲区 ×4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3858768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3" y="3858768"/>
            <a:ext cx="5882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匿名可能强化回避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4187952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3" y="4187952"/>
            <a:ext cx="5882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只记被选中的、不追落选者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6904" y="4517136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3" y="4517136"/>
            <a:ext cx="5882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教师配合一断，数据就缺失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4" y="4846320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3" y="4846320"/>
            <a:ext cx="5882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发言数上升可能只是表演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31536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171C"/>
                </a:solidFill>
                <a:latin typeface="Noto Sans SC"/>
                <a:ea typeface="Noto Sans SC"/>
              </a:rPr>
              <a:t>约 2 分半　·　中间五步全自动，不需要你操心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97296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3A42"/>
                </a:solidFill>
                <a:latin typeface="Noto Sans SC"/>
                <a:ea typeface="Noto Sans SC"/>
              </a:rPr>
              <a:t>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11 源并行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3086" y="579729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ED7CC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3982" y="5797296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3A42"/>
                </a:solidFill>
                <a:latin typeface="Noto Sans SC"/>
                <a:ea typeface="Noto Sans SC"/>
              </a:rPr>
              <a:t>分级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3982" y="6053328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3 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9828" y="579729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ED7CC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0724" y="5797296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3A42"/>
                </a:solidFill>
                <a:latin typeface="Noto Sans SC"/>
                <a:ea typeface="Noto Sans SC"/>
              </a:rPr>
              <a:t>组队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0724" y="6053328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6 人异构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6570" y="579729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ED7CC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7466" y="5797296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3A42"/>
                </a:solidFill>
                <a:latin typeface="Noto Sans SC"/>
                <a:ea typeface="Noto Sans SC"/>
              </a:rPr>
              <a:t>讨论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466" y="6053328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逐轮干预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3312" y="579729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ED7CC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4208" y="5797296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3A42"/>
                </a:solidFill>
                <a:latin typeface="Noto Sans SC"/>
                <a:ea typeface="Noto Sans SC"/>
              </a:rPr>
              <a:t>出报告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4208" y="6053328"/>
            <a:ext cx="16958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结论+盲区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3620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12 次实测：中位数 160 秒，区间 142–196 秒；启动仅占 13 秒，瓶颈在模型侧。报告原始 4,221 字可核对，人话化后约 300 字。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spd="slow" p14:dur="9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DESIGN  ·  为什么是三个机制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文化是偷不走的，也无法被复刻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不是「多开几个 AI」。少任何一个，乘出来都是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98421"/>
            <a:ext cx="9722815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464181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171C"/>
                </a:solidFill>
                <a:latin typeface="Noto Sans SC"/>
                <a:ea typeface="Noto Sans SC"/>
              </a:rPr>
              <a:t>团队异构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409317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4ED8"/>
                </a:solidFill>
                <a:latin typeface="Noto Sans SC"/>
                <a:ea typeface="Noto Sans SC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2464181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171C"/>
                </a:solidFill>
                <a:latin typeface="Noto Sans SC"/>
                <a:ea typeface="Noto Sans SC"/>
              </a:rPr>
              <a:t>信息不对称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2936" y="2409317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4ED8"/>
                </a:solidFill>
                <a:latin typeface="Noto Sans SC"/>
                <a:ea typeface="Noto Sans SC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464181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171C"/>
                </a:solidFill>
                <a:latin typeface="Noto Sans SC"/>
                <a:ea typeface="Noto Sans SC"/>
              </a:rPr>
              <a:t>主教练干预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409317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4ED8"/>
                </a:solidFill>
                <a:latin typeface="Noto Sans SC"/>
                <a:ea typeface="Noto Sans SC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2427605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D4ED8"/>
                </a:solidFill>
                <a:latin typeface="Noto Sans SC"/>
                <a:ea typeface="Noto Sans SC"/>
              </a:rPr>
              <a:t>真正的分歧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3173"/>
            <a:ext cx="972281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26053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45309"/>
                </a:solidFill>
                <a:latin typeface="Noto Sans SC"/>
                <a:ea typeface="Noto Sans SC"/>
              </a:rPr>
              <a:t>少 ① 团队异构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26053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2"/>
                </a:solidFill>
                <a:latin typeface="Noto Sans SC"/>
                <a:ea typeface="Noto Sans SC"/>
              </a:rPr>
              <a:t>6 个 AI 说一样的话 —— 等于同一个人自问自答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3744341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P5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2981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45309"/>
                </a:solidFill>
                <a:latin typeface="Noto Sans SC"/>
                <a:ea typeface="Noto Sans SC"/>
              </a:rPr>
              <a:t>少 ② 信息不对称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292981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2"/>
                </a:solidFill>
                <a:latin typeface="Noto Sans SC"/>
                <a:ea typeface="Noto Sans SC"/>
              </a:rPr>
              <a:t>所有人读同一份材料 —— 讨论退化成复述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4311269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P6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5990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45309"/>
                </a:solidFill>
                <a:latin typeface="Noto Sans SC"/>
                <a:ea typeface="Noto Sans SC"/>
              </a:rPr>
              <a:t>少 ③ 主教练干预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859909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2"/>
                </a:solidFill>
                <a:latin typeface="Noto Sans SC"/>
                <a:ea typeface="Noto Sans SC"/>
              </a:rPr>
              <a:t>几轮之后自然趋同 —— 没有人拉回来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4878197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P7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335397"/>
            <a:ext cx="972281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1701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3A42"/>
                </a:solidFill>
                <a:latin typeface="Noto Sans SC"/>
                <a:ea typeface="Noto Sans SC"/>
              </a:rPr>
              <a:t>这不是功能清单，是三个必要条件 —— 下面三页逐个拆。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「一致但平庸」的定义：6 个角色最终给出高度相似、且不超出常识的建议。三个机制各自防住一条退化路径。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spd="slow" p14:dur="11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MECHANISM ①  ·  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怎么造出 6 个真正不一样的人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不是换 prompt 换语气 —— 是在三个正交维度上强制分化，再让数据说话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52117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E6858"/>
                </a:solidFill>
                <a:latin typeface="Noto Sans SC"/>
                <a:ea typeface="Noto Sans SC"/>
              </a:rPr>
              <a:t>怎　么　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301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Noto Sans SC"/>
                <a:ea typeface="Noto Sans SC"/>
              </a:rPr>
              <a:t>×7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28130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71C"/>
                </a:solidFill>
                <a:latin typeface="Noto Sans SC"/>
                <a:ea typeface="Noto Sans SC"/>
              </a:rPr>
              <a:t>认知原型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2299589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怎么看问题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2281301"/>
            <a:ext cx="6430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推进者 · 联结者 · 洞察者 · 探索者 · 调和者 · 检验者 · 批判者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2021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Noto Sans SC"/>
                <a:ea typeface="Noto Sans SC"/>
              </a:rPr>
              <a:t>×8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73850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71C"/>
                </a:solidFill>
                <a:latin typeface="Noto Sans SC"/>
                <a:ea typeface="Noto Sans SC"/>
              </a:rPr>
              <a:t>专业领域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756789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看什么变量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738501"/>
            <a:ext cx="6430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计算机科学 · 教育学 · 心理学 · 管理学 · 社会学 · 经济学 · 法学 · 医学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17741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Noto Sans SC"/>
                <a:ea typeface="Noto Sans SC"/>
              </a:rPr>
              <a:t>×6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19570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71C"/>
                </a:solidFill>
                <a:latin typeface="Noto Sans SC"/>
                <a:ea typeface="Noto Sans SC"/>
              </a:rPr>
              <a:t>价值观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3213989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怎么取舍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3195701"/>
            <a:ext cx="6430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效率优先 · 公平优先 · 创新优先 · 人文关怀 · 实用主义 · 长远主义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652901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171C"/>
                </a:solidFill>
                <a:latin typeface="Noto Sans SC"/>
                <a:ea typeface="Noto Sans SC"/>
              </a:rPr>
              <a:t>= 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707765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条路径。每个角色强制落在不同点位上 —— 不是让模型自己「演」一个性格。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36949"/>
            <a:ext cx="972281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4965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E6858"/>
                </a:solidFill>
                <a:latin typeface="Noto Sans SC"/>
                <a:ea typeface="Noto Sans SC"/>
              </a:rPr>
              <a:t>数　据　怎　么　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9285"/>
            <a:ext cx="1417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9A9486"/>
                </a:solidFill>
                <a:latin typeface="Noto Sans SC"/>
                <a:ea typeface="Noto Sans SC"/>
              </a:rPr>
              <a:t>4.60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69637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6 人完全相同 · 个维度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530725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E685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4439285"/>
            <a:ext cx="1417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D4ED8"/>
                </a:solidFill>
                <a:latin typeface="Noto Sans SC"/>
                <a:ea typeface="Noto Sans SC"/>
              </a:rPr>
              <a:t>5.65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2424" y="4969637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6 人强制异构 · 个维度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3288" y="449414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A3A42"/>
                </a:solidFill>
                <a:latin typeface="Noto Sans SC"/>
                <a:ea typeface="Noto Sans SC"/>
              </a:rPr>
              <a:t>＋1.05 个维度（95%CI −1.52～−0.58）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4786757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A3A42"/>
                </a:solidFill>
                <a:latin typeface="Noto Sans SC"/>
                <a:ea typeface="Noto Sans SC"/>
              </a:rPr>
              <a:t>p = 0.0012　·　dz = −0.99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80533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E6858"/>
                </a:solidFill>
                <a:latin typeface="Noto Sans SC"/>
                <a:ea typeface="Noto Sans SC"/>
              </a:rPr>
              <a:t>拆到单维看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280533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Noto Sans SC"/>
                <a:ea typeface="Noto Sans SC"/>
              </a:rPr>
              <a:t>价值观  两个指标都涨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5280533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45309"/>
                </a:solidFill>
                <a:latin typeface="Noto Sans SC"/>
                <a:ea typeface="Noto Sans SC"/>
              </a:rPr>
              <a:t>专业背景  一涨一跌 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280533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9486"/>
                </a:solidFill>
                <a:latin typeface="Noto Sans SC"/>
                <a:ea typeface="Noto Sans SC"/>
              </a:rPr>
              <a:t>认知原型  都没显著 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628005"/>
            <a:ext cx="2743200" cy="12801"/>
          </a:xfrm>
          <a:prstGeom prst="rect">
            <a:avLst/>
          </a:prstGeom>
          <a:solidFill>
            <a:srgbClr val="1717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56020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71C"/>
                </a:solidFill>
                <a:latin typeface="Noto Serif SC"/>
                <a:ea typeface="Noto Serif SC"/>
              </a:rPr>
              <a:t>所以：我们卖的是「强制制造差异」这个机制 —— 不是某一套特定人格。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6E6858"/>
                </a:solidFill>
                <a:latin typeface="Noto Sans SC"/>
                <a:ea typeface="Noto Sans SC"/>
              </a:rPr>
              <a:t>数据：2026-09-16_人格消融_n20（140 次，预注册判定）；维度清单取自引擎定义；336 为设计基数，不作效果优势。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spd="slow" p14:dur="9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MECHANISM ②  ·  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6 个人，6 份不一样的底料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每份材料都缺一块 —— 而且缺的不是同一块。冲突在讨论之前就埋好了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43557"/>
            <a:ext cx="9722815" cy="493776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0133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Noto Sans SC"/>
                <a:ea typeface="Noto Sans SC"/>
              </a:rPr>
              <a:t>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089277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计算机 · 推进者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089277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了解核心概念与主要争议点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776" y="2089277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45309"/>
                </a:solidFill>
                <a:latin typeface="Noto Sans SC"/>
                <a:ea typeface="Noto Sans SC"/>
              </a:rPr>
              <a:t>但缺乏针对本场景的一手数据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28773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Noto Sans SC"/>
                <a:ea typeface="Noto Sans SC"/>
              </a:rPr>
              <a:t>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637917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教育学 · 检验者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637917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掌握类似场景下其他地区的方案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637917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45309"/>
                </a:solidFill>
                <a:latin typeface="Noto Sans SC"/>
                <a:ea typeface="Noto Sans SC"/>
              </a:rPr>
              <a:t>但不确定在本场景的适用性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40837"/>
            <a:ext cx="9722815" cy="493776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77413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Noto Sans SC"/>
                <a:ea typeface="Noto Sans SC"/>
              </a:rPr>
              <a:t>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186557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心理学 · 探索者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3186557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关注利益相关者之间的目标冲突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186557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45309"/>
                </a:solidFill>
                <a:latin typeface="Noto Sans SC"/>
                <a:ea typeface="Noto Sans SC"/>
              </a:rPr>
              <a:t>但对各方真实的优先级排序缺乏了解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2605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Noto Sans SC"/>
                <a:ea typeface="Noto Sans SC"/>
              </a:rPr>
              <a:t>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35196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管理学 · 联结者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5496" y="373519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了解技术方案在类似问题中的应用案例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3735196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45309"/>
                </a:solidFill>
                <a:latin typeface="Noto Sans SC"/>
                <a:ea typeface="Noto Sans SC"/>
              </a:rPr>
              <a:t>但对落地的人力和资金成本有疑虑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38117"/>
            <a:ext cx="9722815" cy="493776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74693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Noto Sans SC"/>
                <a:ea typeface="Noto Sans SC"/>
              </a:rPr>
              <a:t>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283837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社会学 · 洞察者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5496" y="4283837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关注方案实施后的非预期副作用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4283837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45309"/>
                </a:solidFill>
                <a:latin typeface="Noto Sans SC"/>
                <a:ea typeface="Noto Sans SC"/>
              </a:rPr>
              <a:t>尤其对弱势群体的潜在影响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23333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Noto Sans SC"/>
                <a:ea typeface="Noto Sans SC"/>
              </a:rPr>
              <a:t>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832477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经济学 · 批判者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496" y="4832477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掌握相关政策的总体方向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4832477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45309"/>
                </a:solidFill>
                <a:latin typeface="Noto Sans SC"/>
                <a:ea typeface="Noto Sans SC"/>
              </a:rPr>
              <a:t>但缺乏执行层的操作指南和成功标准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1842389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角色 / 专业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5496" y="1842389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他知道什么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1842389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45309"/>
                </a:solidFill>
                <a:latin typeface="Noto Sans SC"/>
                <a:ea typeface="Noto Sans SC"/>
              </a:rPr>
              <a:t>他不知道什么（材料里就写着）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63413"/>
            <a:ext cx="972281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591429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7171C"/>
                </a:solidFill>
                <a:latin typeface="Noto Serif SC"/>
                <a:ea typeface="Noto Serif SC"/>
              </a:rPr>
              <a:t>6 段材料各不相同，每段都缺一块 —— 讨论时他们要吵的，恰恰是别人手上那半张。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93765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E6858"/>
                </a:solidFill>
                <a:latin typeface="Noto Sans SC"/>
                <a:ea typeface="Noto Sans SC"/>
              </a:rPr>
              <a:t>这些底料怎么来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975477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A3A42"/>
                </a:solidFill>
                <a:latin typeface="Noto Sans SC"/>
                <a:ea typeface="Noto Sans SC"/>
              </a:rPr>
              <a:t>① 11 个检索源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6213221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858"/>
                </a:solidFill>
                <a:latin typeface="Noto Sans SC"/>
                <a:ea typeface="Noto Sans SC"/>
              </a:rPr>
              <a:t>知网 / NCPSSD / ChinaXiv / Crossref / arXiv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86984" y="5975477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A3A42"/>
                </a:solidFill>
                <a:latin typeface="Noto Sans SC"/>
                <a:ea typeface="Noto Sans SC"/>
              </a:rPr>
              <a:t>② 5 道质量闸门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86984" y="6213221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858"/>
                </a:solidFill>
                <a:latin typeface="Noto Sans SC"/>
                <a:ea typeface="Noto Sans SC"/>
              </a:rPr>
              <a:t>去重 → 配额 → 期刊分级 → 剔三无 → 完整性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5975477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A3A42"/>
                </a:solidFill>
                <a:latin typeface="Noto Sans SC"/>
                <a:ea typeface="Noto Sans SC"/>
              </a:rPr>
              <a:t>③ 机械排序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6488" y="6213221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858"/>
                </a:solidFill>
                <a:latin typeface="Noto Sans SC"/>
                <a:ea typeface="Noto Sans SC"/>
              </a:rPr>
              <a:t>字面 + 实体 + 权威度，不用模型判相关性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spd="slow" p14:dur="9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MECHANISM ③  ·  控场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它不是主持人，它只在讨论跑偏时开口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68 次真实干预：信号全部本地可算，指令只从白名单里挑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4101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171C"/>
                </a:solidFill>
                <a:latin typeface="Noto Sans SC"/>
                <a:ea typeface="Noto Sans SC"/>
              </a:rPr>
              <a:t>68 次干预，触发信号只有四种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013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跑题度偏高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98421"/>
            <a:ext cx="301752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207098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71C"/>
                </a:solidFill>
                <a:latin typeface="Noto Sans SC"/>
                <a:ea typeface="Noto Sans SC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4589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未补证断言偏多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464181"/>
            <a:ext cx="389357" cy="201168"/>
          </a:xfrm>
          <a:prstGeom prst="rect">
            <a:avLst/>
          </a:prstGeom>
          <a:solidFill>
            <a:srgbClr val="5B7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5165" y="243674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71C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165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张力不足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829941"/>
            <a:ext cx="97339" cy="20116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3147" y="280250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71C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7741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42"/>
                </a:solidFill>
                <a:latin typeface="Noto Sans SC"/>
                <a:ea typeface="Noto Sans SC"/>
              </a:rPr>
              <a:t>观点重复率偏高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195701"/>
            <a:ext cx="97339" cy="20116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3147" y="316826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71C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7765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171C"/>
                </a:solidFill>
                <a:latin typeface="Noto Sans SC"/>
                <a:ea typeface="Noto Sans SC"/>
              </a:rPr>
              <a:t>8 类白名单里，实际只用到 5 类 —— 88% 集中在两类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63797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概念冻结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991229"/>
            <a:ext cx="2377440" cy="164592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3963797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47261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机制预算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274693"/>
            <a:ext cx="1280160" cy="164592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41648" y="424726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30725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可验证性声明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558157"/>
            <a:ext cx="243840" cy="164592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5328" y="453072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141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伦理审查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4841620"/>
            <a:ext cx="182880" cy="164592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481418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976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红队测试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125084"/>
            <a:ext cx="73152" cy="164592"/>
          </a:xfrm>
          <a:prstGeom prst="rect">
            <a:avLst/>
          </a:prstGeom>
          <a:solidFill>
            <a:srgbClr val="C9B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50976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79" y="2006981"/>
            <a:ext cx="4967935" cy="3145536"/>
          </a:xfrm>
          <a:prstGeom prst="roundRect">
            <a:avLst>
              <a:gd name="adj" fmla="val 5000"/>
            </a:avLst>
          </a:prstGeom>
          <a:solidFill>
            <a:srgbClr val="F3EEE4"/>
          </a:solidFill>
          <a:ln w="12700">
            <a:solidFill>
              <a:srgbClr val="D3C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399" y="2189861"/>
            <a:ext cx="4419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Noto Sans SC"/>
                <a:ea typeface="Noto Sans SC"/>
              </a:rPr>
              <a:t>一个真实例子　·　第 1 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399" y="2445893"/>
            <a:ext cx="4419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signal_values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399" y="2665349"/>
            <a:ext cx="4419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A3A42"/>
                </a:solidFill>
                <a:latin typeface="Noto Sans SC"/>
                <a:ea typeface="Noto Sans SC"/>
              </a:rPr>
              <a:t>tension = 0.0　repeat = 0.0　off_topic = 0.25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399" y="2976245"/>
            <a:ext cx="4419295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399" y="3085973"/>
            <a:ext cx="4419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团队六人当时在说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399" y="3305429"/>
            <a:ext cx="4419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「我认同」「我同意」「我都认同」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—— 没人质疑「先诊断后开方」这个前提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399" y="3890645"/>
            <a:ext cx="4419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主教练下发　红队测试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399" y="4110101"/>
            <a:ext cx="441929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7171C"/>
                </a:solidFill>
                <a:latin typeface="Noto Serif SC"/>
                <a:ea typeface="Noto Serif SC"/>
              </a:rPr>
              <a:t>「请预设一个最危险的失败场景：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7171C"/>
                </a:solidFill>
                <a:latin typeface="Noto Serif SC"/>
                <a:ea typeface="Noto Serif SC"/>
              </a:rPr>
              <a:t>该方案被滥用时会发生什么？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7171C"/>
                </a:solidFill>
                <a:latin typeface="Noto Serif SC"/>
                <a:ea typeface="Noto Serif SC"/>
              </a:rPr>
              <a:t>如何反制？」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254496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E6858"/>
                </a:solidFill>
                <a:latin typeface="Noto Sans SC"/>
                <a:ea typeface="Noto Sans SC"/>
              </a:rPr>
              <a:t>5 个信号全部本地可算（重复率 / 跑题度 / 张力 / 未补证断言 / 引用数），per_round 逐轮判定。⚠ 不声称干预提升了效果 —— 没做过能归因的对照实验。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spd="slow" p14:dur="9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EFFECT  ·  它实际挖出了什么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它挖出了四条我自己没想到的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同一个教研课题「如何提升师范生课堂参与度」—— 单一 AI 给的是增加互动、奖励发言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43557"/>
            <a:ext cx="8534095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301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2171573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171C"/>
                </a:solidFill>
                <a:latin typeface="Noto Sans SC"/>
                <a:ea typeface="Noto Sans SC"/>
              </a:rPr>
              <a:t>沉默可能是对低质量教学的抵抗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62429"/>
            <a:ext cx="5440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8"/>
                </a:solidFill>
                <a:latin typeface="Noto Sans SC"/>
                <a:ea typeface="Noto Sans SC"/>
              </a:rPr>
              <a:t>如果课本身不够好，学生用沉默投票是理性选择。提升参与度，不能替代提升内容质量。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6245"/>
            <a:ext cx="8534095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319570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3104261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171C"/>
                </a:solidFill>
                <a:latin typeface="Noto Sans SC"/>
                <a:ea typeface="Noto Sans SC"/>
              </a:rPr>
              <a:t>师范生不是同质群体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95117"/>
            <a:ext cx="5440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8"/>
                </a:solidFill>
                <a:latin typeface="Noto Sans SC"/>
                <a:ea typeface="Noto Sans SC"/>
              </a:rPr>
              <a:t>有人真心想当老师，有人只想混文凭。方案不能以「平均学生」为原型设计。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08933"/>
            <a:ext cx="8534095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412838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403694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171C"/>
                </a:solidFill>
                <a:latin typeface="Noto Sans SC"/>
                <a:ea typeface="Noto Sans SC"/>
              </a:rPr>
              <a:t>表演性参与风险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027805"/>
            <a:ext cx="5440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8"/>
                </a:solidFill>
                <a:latin typeface="Noto Sans SC"/>
                <a:ea typeface="Noto Sans SC"/>
              </a:rPr>
              <a:t>只奖励发言次数，会逼出「看着热闹、脑子没动」的表演。指标本身会被策略性利用。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41621"/>
            <a:ext cx="8534095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506107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4ED8"/>
                </a:solidFill>
                <a:latin typeface="Noto Sans SC"/>
                <a:ea typeface="Noto Sans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184" y="4969637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171C"/>
                </a:solidFill>
                <a:latin typeface="Noto Sans SC"/>
                <a:ea typeface="Noto Sans SC"/>
              </a:rPr>
              <a:t>可持续性约束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60493"/>
            <a:ext cx="5440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8"/>
                </a:solidFill>
                <a:latin typeface="Noto Sans SC"/>
                <a:ea typeface="Noto Sans SC"/>
              </a:rPr>
              <a:t>任何机制如果靠教师个人热情维持，必然半途夭折。必须自带降级与退出机制。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6188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6E6858"/>
                </a:solidFill>
                <a:latin typeface="Noto Sans SC"/>
                <a:ea typeface="Noto Sans SC"/>
              </a:rPr>
              <a:t>这四条不是「更全面的建议」，是四个不同的问题重构 —— 每一条都能单独改变方案设计。它们无法从注入的信息库直接推导，也不是换一种说法。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spd="slow" p14:dur="9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EVIDENCE  ·  凭什么这么说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556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7171C"/>
                </a:solidFill>
                <a:latin typeface="Noto Serif SC"/>
                <a:ea typeface="Noto Serif SC"/>
              </a:rPr>
              <a:t>316 次实验：三组独立实验，方向一致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5542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不是「感觉更好」—— 消融、对照、跨模型三组各跑一遍，结论同向且可复算</a:t>
            </a:r>
          </a:p>
        </p:txBody>
      </p:sp>
      <p:pic>
        <p:nvPicPr>
          <p:cNvPr id="6" name="Picture 5" descr="chart_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834007"/>
            <a:ext cx="9098280" cy="34872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412714"/>
            <a:ext cx="8625535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5504154"/>
            <a:ext cx="81683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3A3A42"/>
                </a:solidFill>
                <a:latin typeface="Noto Sans SC"/>
                <a:ea typeface="Noto Sans SC"/>
              </a:rPr>
              <a:t>⚠ 口径边界：以上效应量只在「视角覆盖数」上测得 —— 衡量「说得全不全」，不是质量结论。对照单模型多视角：覆盖度上 TOST 判定「等价」（p = 0.026）；但内容价值（结论是否更有用、盲区是否更准）我们从未评估 —— 这个对照既不能证明我们更好，也不能证明更差。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3A3A42"/>
                </a:solidFill>
                <a:latin typeface="Noto Sans SC"/>
                <a:ea typeface="Noto Sans SC"/>
              </a:rPr>
              <a:t>「316 次」= 140 + 32 + 144；另有 150 轮复现、82 轮补实验、128 份盲区对照产出，合计 676 次实验运行。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spd="slow" p14:dur="11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SELF-AUDIT  ·  我们自己拆自己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数据自审：我们自己改写了自己的结论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评审会问「你怎么证明」。这一页是我们对自己数据的审计结果 —— 四条问题，每条都公开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52117"/>
          <a:ext cx="8625534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94867"/>
                <a:gridCol w="3719267"/>
                <a:gridCol w="2611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E6858"/>
                          </a:solidFill>
                          <a:latin typeface="Noto Sans SC"/>
                        </a:rPr>
                        <a:t>我们发现的问题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E6858"/>
                          </a:solidFill>
                          <a:latin typeface="Noto Sans SC"/>
                        </a:rPr>
                        <a:t>证据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E6858"/>
                          </a:solidFill>
                          <a:latin typeface="Noto Sans SC"/>
                        </a:rPr>
                        <a:t>如实处理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171C"/>
                          </a:solidFill>
                          <a:latin typeface="Noto Sans SC"/>
                        </a:rPr>
                        <a:t>真涌现率不是独立指标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与「涌现度 ≥ 7」一致率 98.6%
Jaccard 0.982（440 条）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降级为过程指标，不作质量证据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171C"/>
                          </a:solidFill>
                          <a:latin typeface="Noto Sans SC"/>
                        </a:rPr>
                        <a:t>「涌现度」这把尺子没刻度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18 对照只挑对 8 对（44%）
分数挤在 6.4–7.2，跨度 0.8 分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不再作为主读数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171C"/>
                          </a:solidFill>
                          <a:latin typeface="Noto Sans SC"/>
                        </a:rPr>
                        <a:t>798 轮评审记录整批作废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评分尺子 AUC ≈ 0.35，低于随机水平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整批下线，仅留档折叠展示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171C"/>
                          </a:solidFill>
                          <a:latin typeface="Noto Sans SC"/>
                        </a:rPr>
                        <a:t>一条记录就能翻转主结论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p = 0.219 →  剔 1 条后 0.024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A3A42"/>
                          </a:solidFill>
                          <a:latin typeface="Noto Sans SC"/>
                        </a:rPr>
                        <a:t>结论从「未检出」改为「无法判断」</a:t>
                      </a:r>
                    </a:p>
                  </a:txBody>
                  <a:tcPr marL="18288" marR="54864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952117"/>
            <a:ext cx="862553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00757"/>
            <a:ext cx="8625535" cy="3657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049397"/>
            <a:ext cx="8625535" cy="3657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598037"/>
            <a:ext cx="8625535" cy="3657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146676"/>
            <a:ext cx="8625535" cy="3657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695317"/>
            <a:ext cx="862553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823333"/>
            <a:ext cx="8625535" cy="640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4942205"/>
            <a:ext cx="816833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我们给自己定的规矩：只保留能演示、能复现、有测量的能力；说不清的一律降级或撤回。  材料里 167 项数字随作品附复算脚本，逐条能重算。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89904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这一页不是自我批评，是我们认为最该被检验的部分 —— 如果连自己的指标都不敢拆，其他数字更不可信。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spd="slow" p14:dur="1100">
    <p:uncover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ARCHITECTURE &amp; COST  ·  怎么做、多少钱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8259775" cy="600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7171C"/>
                </a:solidFill>
                <a:latin typeface="Noto Serif SC"/>
                <a:ea typeface="Noto Serif SC"/>
              </a:rPr>
              <a:t>五层架构 · 一次预演 0.16 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0500"/>
            <a:ext cx="8259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6E6858"/>
                </a:solidFill>
                <a:latin typeface="Noto Sans SC"/>
                <a:ea typeface="Noto Sans SC"/>
              </a:rPr>
              <a:t>自研编排层 + 多源检索层；不依赖 OpenAI SDK，全部 requests 直连硬超时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8693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171C"/>
                </a:solidFill>
                <a:latin typeface="Noto Sans SC"/>
                <a:ea typeface="Noto Sans SC"/>
              </a:rPr>
              <a:t>五层架构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1301"/>
            <a:ext cx="67208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36165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4ED8"/>
                </a:solidFill>
                <a:latin typeface="Noto Sans SC"/>
                <a:ea typeface="Noto Sans SC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308733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71C"/>
                </a:solidFill>
                <a:latin typeface="Noto Sans SC"/>
                <a:ea typeface="Noto Sans SC"/>
              </a:rPr>
              <a:t>界面层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9102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A3A42"/>
                </a:solidFill>
                <a:latin typeface="Noto Sans SC"/>
                <a:ea typeface="Noto Sans SC"/>
              </a:rPr>
              <a:t>控制台 / 大屏 / 移动端 · 原生 HTML+JS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64706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无前端框架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2821"/>
            <a:ext cx="67208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067685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4ED8"/>
                </a:solidFill>
                <a:latin typeface="Noto Sans SC"/>
                <a:ea typeface="Noto Sans SC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3040253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71C"/>
                </a:solidFill>
                <a:latin typeface="Noto Sans SC"/>
                <a:ea typeface="Noto Sans SC"/>
              </a:rPr>
              <a:t>网关层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12254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A3A42"/>
                </a:solidFill>
                <a:latin typeface="Noto Sans SC"/>
                <a:ea typeface="Noto Sans SC"/>
              </a:rPr>
              <a:t>FastAPI 5020 生产 / 5021 体验 · nginx 3081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37858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插件化 + 会话落盘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4341"/>
            <a:ext cx="67208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99205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4ED8"/>
                </a:solidFill>
                <a:latin typeface="Noto Sans SC"/>
                <a:ea typeface="Noto Sans SC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3771773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71C"/>
                </a:solidFill>
                <a:latin typeface="Noto Sans SC"/>
                <a:ea typeface="Noto Sans SC"/>
              </a:rPr>
              <a:t>引擎层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85406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A3A42"/>
                </a:solidFill>
                <a:latin typeface="Noto Sans SC"/>
                <a:ea typeface="Noto Sans SC"/>
              </a:rPr>
              <a:t>6 人讨论 · 主教练逐轮干预 · 复杂度分级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11010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自研编排，不用 LangChain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75861"/>
            <a:ext cx="67208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530725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4ED8"/>
                </a:solidFill>
                <a:latin typeface="Noto Sans SC"/>
                <a:ea typeface="Noto Sans SC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503293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71C"/>
                </a:solidFill>
                <a:latin typeface="Noto Sans SC"/>
                <a:ea typeface="Noto Sans SC"/>
              </a:rPr>
              <a:t>检索层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58558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A3A42"/>
                </a:solidFill>
                <a:latin typeface="Noto Sans SC"/>
                <a:ea typeface="Noto Sans SC"/>
              </a:rPr>
              <a:t>11 源并行 · 五道质量闸门 · 机械排序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84162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唯一依赖 requests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207381"/>
            <a:ext cx="67208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DED7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26224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4ED8"/>
                </a:solidFill>
                <a:latin typeface="Noto Sans SC"/>
                <a:ea typeface="Noto Sans SC"/>
              </a:rPr>
              <a:t>L5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5234813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71C"/>
                </a:solidFill>
                <a:latin typeface="Noto Sans SC"/>
                <a:ea typeface="Noto Sans SC"/>
              </a:rPr>
              <a:t>数据层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31710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A3A42"/>
                </a:solidFill>
                <a:latin typeface="Noto Sans SC"/>
                <a:ea typeface="Noto Sans SC"/>
              </a:rPr>
              <a:t>会话落盘 · 参考文献 · 逐源台账 · 复算脚本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57314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167 项可逐条复算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1988693"/>
            <a:ext cx="5486" cy="3246120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1970405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171C"/>
                </a:solidFill>
                <a:latin typeface="Noto Sans SC"/>
                <a:ea typeface="Noto Sans SC"/>
              </a:rPr>
              <a:t>成本（真实账单）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171573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7171C"/>
                </a:solidFill>
                <a:latin typeface="Noto Sans SC"/>
                <a:ea typeface="Noto Sans SC"/>
              </a:rPr>
              <a:t>0.16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232277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3A42"/>
                </a:solidFill>
                <a:latin typeface="Noto Sans SC"/>
                <a:ea typeface="Noto Sans SC"/>
              </a:rPr>
              <a:t>元 / 次完整预演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506597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一次预演 = 37 次 API 调用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47,261 token · 约 110 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07352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171C"/>
                </a:solidFill>
                <a:latin typeface="Noto Sans SC"/>
                <a:ea typeface="Noto Sans SC"/>
              </a:rPr>
              <a:t>0.03 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4137533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快速预演（7 次调用）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54901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171C"/>
                </a:solidFill>
                <a:latin typeface="Noto Sans SC"/>
                <a:ea typeface="Noto Sans SC"/>
              </a:rPr>
              <a:t>167 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461302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数字可逐条复算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980176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口径说明：0.16 元来自一次完整预演（37 次 API 调用 / 47,261 token）的实测账单。⚠ 对照口径：单模型多视角为 1 次调用 / 2,437 token —— 但两者产出不对等（我们额外产出逐轮讨论记录、干预台账、审计意见、参考文献），且内容价值从未被评估，因此不做「便宜 X 倍」的比较。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6419088"/>
            <a:ext cx="10637215" cy="5486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49224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E6858"/>
                </a:solidFill>
                <a:latin typeface="Noto Sans SC"/>
              </a:rPr>
              <a:t>群智 · 科研决策预演智能体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68535" y="649224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A3A42"/>
                </a:solidFill>
                <a:latin typeface="Noto Sans SC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spd="slow" p14:dur="1100">
    <p:wipe dir="u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320">
                <a:solidFill>
                  <a:srgbClr val="5E594E"/>
                </a:solidFill>
                <a:latin typeface="Noto Sans SC"/>
                <a:ea typeface="Noto Sans SC"/>
              </a:rPr>
              <a:t>CLOSING  ·  谁会用、最后一句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400" b="1" i="0">
                <a:solidFill>
                  <a:srgbClr val="17171C"/>
                </a:solidFill>
                <a:latin typeface="Noto Serif SC"/>
                <a:ea typeface="Noto Serif SC"/>
              </a:rPr>
              <a:t>不是人问 AI 答，</a:t>
            </a:r>
          </a:p>
          <a:p>
            <a:pPr algn="l">
              <a:lnSpc>
                <a:spcPct val="122000"/>
              </a:lnSpc>
            </a:pPr>
            <a:r>
              <a:rPr sz="4400" b="1" i="0">
                <a:solidFill>
                  <a:srgbClr val="17171C"/>
                </a:solidFill>
                <a:latin typeface="Noto Serif SC"/>
                <a:ea typeface="Noto Serif SC"/>
              </a:rPr>
              <a:t>而是 AI 团队替你预演决策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542032"/>
            <a:ext cx="2743200" cy="12801"/>
          </a:xfrm>
          <a:prstGeom prst="rect">
            <a:avLst/>
          </a:prstGeom>
          <a:solidFill>
            <a:srgbClr val="1717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9875520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71216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潜在应用场景（设计目标，尚无真实用户使用数据）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3A42"/>
                </a:solidFill>
                <a:latin typeface="Noto Sans SC"/>
                <a:ea typeface="Noto Sans SC"/>
              </a:rPr>
              <a:t>高校教研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381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教研室 / 教改项目组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4" y="320040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3A42"/>
                </a:solidFill>
                <a:latin typeface="Noto Sans SC"/>
                <a:ea typeface="Noto Sans SC"/>
              </a:rPr>
              <a:t>课题申报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34381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课题负责人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20040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3A42"/>
                </a:solidFill>
                <a:latin typeface="Noto Sans SC"/>
                <a:ea typeface="Noto Sans SC"/>
              </a:rPr>
              <a:t>开题答辩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34381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研究生 / 导师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320040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3A42"/>
                </a:solidFill>
                <a:latin typeface="Noto Sans SC"/>
                <a:ea typeface="Noto Sans SC"/>
              </a:rPr>
              <a:t>企业战略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34381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决策者 / 战略部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9176" y="320040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A3A42"/>
                </a:solidFill>
                <a:latin typeface="Noto Sans SC"/>
                <a:ea typeface="Noto Sans SC"/>
              </a:rPr>
              <a:t>政策制定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9176" y="34381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职能部门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23360"/>
            <a:ext cx="9875520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8795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E6858"/>
                </a:solidFill>
                <a:latin typeface="Noto Sans SC"/>
                <a:ea typeface="Noto Sans SC"/>
              </a:rPr>
              <a:t>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43984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3A3A42"/>
                </a:solidFill>
                <a:latin typeface="Noto Sans SC"/>
                <a:ea typeface="Noto Sans SC"/>
              </a:rPr>
              <a:t>预演工具，不是研究工具。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3A3A42"/>
                </a:solidFill>
                <a:latin typeface="Noto Sans SC"/>
                <a:ea typeface="Noto Sans SC"/>
              </a:rPr>
              <a:t>不产出研究结论，也不替代调研 —— 只把多视角、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3A3A42"/>
                </a:solidFill>
                <a:latin typeface="Noto Sans SC"/>
                <a:ea typeface="Noto Sans SC"/>
              </a:rPr>
              <a:t>你看不见的盲区和真实分歧摆到桌面上。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187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E6858"/>
                </a:solidFill>
                <a:latin typeface="Noto Sans SC"/>
                <a:ea typeface="Noto Sans SC"/>
              </a:rPr>
              <a:t>现在可验证的只有一件事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443984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公网 7×24 运行：134.175.145.241:5020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现场可以给我一个课题，一到两分钟看到结果。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3A3A42"/>
                </a:solidFill>
                <a:latin typeface="Noto Sans SC"/>
                <a:ea typeface="Noto Sans SC"/>
              </a:rPr>
              <a:t>（本项目没有任何真实客户或付费用户）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614416"/>
            <a:ext cx="9875520" cy="7315"/>
          </a:xfrm>
          <a:prstGeom prst="rect">
            <a:avLst/>
          </a:prstGeom>
          <a:solidFill>
            <a:srgbClr val="DED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 i="0">
                <a:solidFill>
                  <a:srgbClr val="6E6858"/>
                </a:solidFill>
                <a:latin typeface="Noto Sans SC"/>
                <a:ea typeface="Noto Sans SC"/>
              </a:rPr>
              <a:t>群智 · 科研决策预演智能体　｜　首届「中国移动杯」人工智能创新大赛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1255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7171C"/>
                </a:solidFill>
                <a:latin typeface="Noto Sans SC"/>
                <a:ea typeface="Noto Sans SC"/>
              </a:rPr>
              <a:t>谢谢各位专家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255" y="625449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858"/>
                </a:solidFill>
                <a:latin typeface="Noto Sans SC"/>
                <a:ea typeface="Noto Sans SC"/>
              </a:rPr>
              <a:t>PAGE 12 / 12</a:t>
            </a:r>
          </a:p>
        </p:txBody>
      </p:sp>
    </p:spTree>
  </p:cSld>
  <p:clrMapOvr>
    <a:masterClrMapping/>
  </p:clrMapOvr>
  <p:transition xmlns:p14="http://schemas.microsoft.com/office/powerpoint/2010/main" spd="slow" p14:dur="1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